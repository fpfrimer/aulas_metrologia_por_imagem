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D3FB3-DA0C-4685-B5B7-DF7A9F8CCA31}" v="2" dt="2026-05-22T22:17:40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Pfrimer" userId="0b8eec0ce5f0414b" providerId="LiveId" clId="{B5EFE8D4-E2EC-4C2E-AF45-3AEDF3427EF8}"/>
    <pc:docChg chg="modSld">
      <pc:chgData name="Felipe Pfrimer" userId="0b8eec0ce5f0414b" providerId="LiveId" clId="{B5EFE8D4-E2EC-4C2E-AF45-3AEDF3427EF8}" dt="2026-05-19T13:05:49.332" v="131" actId="20577"/>
      <pc:docMkLst>
        <pc:docMk/>
      </pc:docMkLst>
      <pc:sldChg chg="modSp mod">
        <pc:chgData name="Felipe Pfrimer" userId="0b8eec0ce5f0414b" providerId="LiveId" clId="{B5EFE8D4-E2EC-4C2E-AF45-3AEDF3427EF8}" dt="2026-05-19T13:05:49.332" v="131" actId="20577"/>
        <pc:sldMkLst>
          <pc:docMk/>
          <pc:sldMk cId="3636677446" sldId="264"/>
        </pc:sldMkLst>
        <pc:spChg chg="mod">
          <ac:chgData name="Felipe Pfrimer" userId="0b8eec0ce5f0414b" providerId="LiveId" clId="{B5EFE8D4-E2EC-4C2E-AF45-3AEDF3427EF8}" dt="2026-05-19T13:05:49.332" v="131" actId="20577"/>
          <ac:spMkLst>
            <pc:docMk/>
            <pc:sldMk cId="3636677446" sldId="264"/>
            <ac:spMk id="3" creationId="{F18C0CD1-FE90-03F7-F2B1-8EAF5B9A4D8A}"/>
          </ac:spMkLst>
        </pc:spChg>
      </pc:sldChg>
    </pc:docChg>
  </pc:docChgLst>
  <pc:docChgLst>
    <pc:chgData name="Felipe Pfrimer" userId="0b8eec0ce5f0414b" providerId="LiveId" clId="{99A03BAB-098E-4974-8324-154A37D5CA80}"/>
    <pc:docChg chg="undo custSel modSld">
      <pc:chgData name="Felipe Pfrimer" userId="0b8eec0ce5f0414b" providerId="LiveId" clId="{99A03BAB-098E-4974-8324-154A37D5CA80}" dt="2026-05-22T22:19:40.195" v="52" actId="20577"/>
      <pc:docMkLst>
        <pc:docMk/>
      </pc:docMkLst>
      <pc:sldChg chg="modSp mod">
        <pc:chgData name="Felipe Pfrimer" userId="0b8eec0ce5f0414b" providerId="LiveId" clId="{99A03BAB-098E-4974-8324-154A37D5CA80}" dt="2026-05-22T22:14:13.698" v="7" actId="20577"/>
        <pc:sldMkLst>
          <pc:docMk/>
          <pc:sldMk cId="1962105011" sldId="257"/>
        </pc:sldMkLst>
        <pc:spChg chg="mod">
          <ac:chgData name="Felipe Pfrimer" userId="0b8eec0ce5f0414b" providerId="LiveId" clId="{99A03BAB-098E-4974-8324-154A37D5CA80}" dt="2026-05-22T22:14:13.698" v="7" actId="20577"/>
          <ac:spMkLst>
            <pc:docMk/>
            <pc:sldMk cId="1962105011" sldId="257"/>
            <ac:spMk id="3" creationId="{63522E16-8BA6-DF91-8460-6D70E7CEA4FF}"/>
          </ac:spMkLst>
        </pc:spChg>
      </pc:sldChg>
      <pc:sldChg chg="modSp mod">
        <pc:chgData name="Felipe Pfrimer" userId="0b8eec0ce5f0414b" providerId="LiveId" clId="{99A03BAB-098E-4974-8324-154A37D5CA80}" dt="2026-05-22T22:12:34.434" v="0" actId="20577"/>
        <pc:sldMkLst>
          <pc:docMk/>
          <pc:sldMk cId="3636677446" sldId="264"/>
        </pc:sldMkLst>
        <pc:spChg chg="mod">
          <ac:chgData name="Felipe Pfrimer" userId="0b8eec0ce5f0414b" providerId="LiveId" clId="{99A03BAB-098E-4974-8324-154A37D5CA80}" dt="2026-05-22T22:12:34.434" v="0" actId="20577"/>
          <ac:spMkLst>
            <pc:docMk/>
            <pc:sldMk cId="3636677446" sldId="264"/>
            <ac:spMk id="3" creationId="{F18C0CD1-FE90-03F7-F2B1-8EAF5B9A4D8A}"/>
          </ac:spMkLst>
        </pc:spChg>
      </pc:sldChg>
      <pc:sldChg chg="addSp modSp mod">
        <pc:chgData name="Felipe Pfrimer" userId="0b8eec0ce5f0414b" providerId="LiveId" clId="{99A03BAB-098E-4974-8324-154A37D5CA80}" dt="2026-05-22T22:17:40.143" v="25"/>
        <pc:sldMkLst>
          <pc:docMk/>
          <pc:sldMk cId="2506177517" sldId="266"/>
        </pc:sldMkLst>
        <pc:spChg chg="mod">
          <ac:chgData name="Felipe Pfrimer" userId="0b8eec0ce5f0414b" providerId="LiveId" clId="{99A03BAB-098E-4974-8324-154A37D5CA80}" dt="2026-05-22T22:14:29.960" v="14" actId="20577"/>
          <ac:spMkLst>
            <pc:docMk/>
            <pc:sldMk cId="2506177517" sldId="266"/>
            <ac:spMk id="2" creationId="{4E7D9ECA-EE03-818C-3204-64CB524C9EAE}"/>
          </ac:spMkLst>
        </pc:spChg>
        <pc:spChg chg="add mod">
          <ac:chgData name="Felipe Pfrimer" userId="0b8eec0ce5f0414b" providerId="LiveId" clId="{99A03BAB-098E-4974-8324-154A37D5CA80}" dt="2026-05-22T22:17:40.143" v="25"/>
          <ac:spMkLst>
            <pc:docMk/>
            <pc:sldMk cId="2506177517" sldId="266"/>
            <ac:spMk id="4" creationId="{99256760-5C98-7564-D40C-7DF9EEA2F202}"/>
          </ac:spMkLst>
        </pc:spChg>
      </pc:sldChg>
      <pc:sldChg chg="modSp mod">
        <pc:chgData name="Felipe Pfrimer" userId="0b8eec0ce5f0414b" providerId="LiveId" clId="{99A03BAB-098E-4974-8324-154A37D5CA80}" dt="2026-05-22T22:19:26.154" v="42" actId="20577"/>
        <pc:sldMkLst>
          <pc:docMk/>
          <pc:sldMk cId="3775547836" sldId="270"/>
        </pc:sldMkLst>
        <pc:spChg chg="mod">
          <ac:chgData name="Felipe Pfrimer" userId="0b8eec0ce5f0414b" providerId="LiveId" clId="{99A03BAB-098E-4974-8324-154A37D5CA80}" dt="2026-05-22T22:19:26.154" v="42" actId="20577"/>
          <ac:spMkLst>
            <pc:docMk/>
            <pc:sldMk cId="3775547836" sldId="270"/>
            <ac:spMk id="3" creationId="{B482F323-799B-2F43-04AD-DD8B4CB50BB9}"/>
          </ac:spMkLst>
        </pc:spChg>
      </pc:sldChg>
      <pc:sldChg chg="modSp mod">
        <pc:chgData name="Felipe Pfrimer" userId="0b8eec0ce5f0414b" providerId="LiveId" clId="{99A03BAB-098E-4974-8324-154A37D5CA80}" dt="2026-05-22T22:19:40.195" v="52" actId="20577"/>
        <pc:sldMkLst>
          <pc:docMk/>
          <pc:sldMk cId="4167250517" sldId="271"/>
        </pc:sldMkLst>
        <pc:spChg chg="mod">
          <ac:chgData name="Felipe Pfrimer" userId="0b8eec0ce5f0414b" providerId="LiveId" clId="{99A03BAB-098E-4974-8324-154A37D5CA80}" dt="2026-05-22T22:19:40.195" v="52" actId="20577"/>
          <ac:spMkLst>
            <pc:docMk/>
            <pc:sldMk cId="4167250517" sldId="271"/>
            <ac:spMk id="3" creationId="{7F921542-294F-DC49-44F1-0204CE704C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128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99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95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55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8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252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5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42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18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97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21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8E9E2A2-6C54-4CFA-B3B5-C875297C0F4D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6A08C7-E232-4479-8B7B-9AF2567089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9897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E4715-CBD4-6E6B-DB09-15D57EF3C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Metrologia por imagens:</a:t>
            </a:r>
            <a:br>
              <a:rPr lang="pt-BR" dirty="0"/>
            </a:br>
            <a:r>
              <a:rPr lang="pt-BR" sz="4100" dirty="0">
                <a:solidFill>
                  <a:srgbClr val="FFFF00"/>
                </a:solidFill>
              </a:rPr>
              <a:t>Automação de Coleta de Imagens em Sistemas Experimentais</a:t>
            </a:r>
            <a:br>
              <a:rPr lang="pt-BR" sz="4100" dirty="0">
                <a:solidFill>
                  <a:srgbClr val="FFFF00"/>
                </a:solidFill>
              </a:rPr>
            </a:br>
            <a:r>
              <a:rPr lang="pt-BR" sz="4100" dirty="0">
                <a:solidFill>
                  <a:srgbClr val="FFFF00"/>
                </a:solidFill>
              </a:rPr>
              <a:t>(01/03)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BC550C-699A-B6D6-1A21-9C436F68D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Prof. Felipe Walter Dafico Pfrimer</a:t>
            </a:r>
          </a:p>
          <a:p>
            <a:r>
              <a:rPr lang="pt-BR" sz="1500" dirty="0"/>
              <a:t>(pfrimer@utfpr.edu.br)</a:t>
            </a:r>
          </a:p>
        </p:txBody>
      </p:sp>
    </p:spTree>
    <p:extLst>
      <p:ext uri="{BB962C8B-B14F-4D97-AF65-F5344CB8AC3E}">
        <p14:creationId xmlns:p14="http://schemas.microsoft.com/office/powerpoint/2010/main" val="165483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7493E-FBDD-ED99-C764-BAD79907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Agenda</a:t>
            </a:r>
            <a:br>
              <a:rPr lang="pt-BR" dirty="0"/>
            </a:br>
            <a:r>
              <a:rPr lang="pt-BR" sz="2700" dirty="0"/>
              <a:t>Aula – dia 1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22E16-8BA6-DF91-8460-6D70E7CE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 experimental e </a:t>
            </a:r>
            <a:r>
              <a:rPr lang="pt-BR" dirty="0">
                <a:solidFill>
                  <a:srgbClr val="FFFF00"/>
                </a:solidFill>
              </a:rPr>
              <a:t>motivação</a:t>
            </a:r>
          </a:p>
          <a:p>
            <a:r>
              <a:rPr lang="pt-BR" dirty="0">
                <a:solidFill>
                  <a:srgbClr val="FFFF00"/>
                </a:solidFill>
              </a:rPr>
              <a:t>Demonstração</a:t>
            </a:r>
            <a:r>
              <a:rPr lang="pt-BR" dirty="0"/>
              <a:t> de sistema automatizado</a:t>
            </a:r>
          </a:p>
          <a:p>
            <a:r>
              <a:rPr lang="pt-BR" i="1" dirty="0"/>
              <a:t>Pipeline</a:t>
            </a:r>
            <a:r>
              <a:rPr lang="pt-BR" dirty="0"/>
              <a:t> de </a:t>
            </a:r>
            <a:r>
              <a:rPr lang="pt-BR" dirty="0">
                <a:solidFill>
                  <a:srgbClr val="FFFF00"/>
                </a:solidFill>
              </a:rPr>
              <a:t>aquisição</a:t>
            </a:r>
            <a:r>
              <a:rPr lang="pt-BR" dirty="0"/>
              <a:t> de imagens (exemplo)</a:t>
            </a:r>
          </a:p>
          <a:p>
            <a:r>
              <a:rPr lang="pt-BR" dirty="0">
                <a:solidFill>
                  <a:srgbClr val="FFFF00"/>
                </a:solidFill>
              </a:rPr>
              <a:t>Robustez</a:t>
            </a:r>
            <a:r>
              <a:rPr lang="pt-BR" dirty="0"/>
              <a:t> do sistema (introdução à VM como extensão)</a:t>
            </a:r>
          </a:p>
          <a:p>
            <a:r>
              <a:rPr lang="pt-BR" dirty="0">
                <a:solidFill>
                  <a:srgbClr val="FFFF00"/>
                </a:solidFill>
              </a:rPr>
              <a:t>Acesso remoto</a:t>
            </a:r>
            <a:r>
              <a:rPr lang="pt-BR" dirty="0"/>
              <a:t> (SSH)</a:t>
            </a:r>
          </a:p>
          <a:p>
            <a:r>
              <a:rPr lang="pt-BR" dirty="0"/>
              <a:t>Exploração inicial do ambiente </a:t>
            </a:r>
            <a:r>
              <a:rPr lang="pt-BR" dirty="0">
                <a:solidFill>
                  <a:srgbClr val="FFFF00"/>
                </a:solidFill>
              </a:rPr>
              <a:t>Linux</a:t>
            </a:r>
          </a:p>
          <a:p>
            <a:r>
              <a:rPr lang="pt-BR" dirty="0">
                <a:solidFill>
                  <a:srgbClr val="FFFF00"/>
                </a:solidFill>
              </a:rPr>
              <a:t>Encerramento</a:t>
            </a:r>
            <a:r>
              <a:rPr lang="pt-BR" dirty="0"/>
              <a:t> e preparação para próxima aula</a:t>
            </a:r>
          </a:p>
        </p:txBody>
      </p:sp>
    </p:spTree>
    <p:extLst>
      <p:ext uri="{BB962C8B-B14F-4D97-AF65-F5344CB8AC3E}">
        <p14:creationId xmlns:p14="http://schemas.microsoft.com/office/powerpoint/2010/main" val="196210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A48A4-D873-39D7-5A12-52157DF1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experimental e 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8F835-B592-35A1-CAC6-43F293F77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 exemplo: </a:t>
            </a:r>
          </a:p>
          <a:p>
            <a:pPr lvl="1"/>
            <a:r>
              <a:rPr lang="pt-BR" dirty="0">
                <a:solidFill>
                  <a:srgbClr val="00B050"/>
                </a:solidFill>
              </a:rPr>
              <a:t>Avaliar</a:t>
            </a:r>
            <a:r>
              <a:rPr lang="pt-BR" dirty="0"/>
              <a:t> o efeito de filmes comestíveis em morangos </a:t>
            </a:r>
            <a:r>
              <a:rPr lang="pt-BR" dirty="0">
                <a:solidFill>
                  <a:srgbClr val="FFFF00"/>
                </a:solidFill>
              </a:rPr>
              <a:t>ao longo do tempo</a:t>
            </a:r>
            <a:r>
              <a:rPr lang="pt-BR" dirty="0"/>
              <a:t>, </a:t>
            </a:r>
            <a:r>
              <a:rPr lang="pt-BR" dirty="0">
                <a:solidFill>
                  <a:srgbClr val="C00000"/>
                </a:solidFill>
              </a:rPr>
              <a:t>sem alterar o ambiente experimental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Como vocês fariam essa avaliação de </a:t>
            </a:r>
            <a:r>
              <a:rPr lang="pt-BR" dirty="0">
                <a:solidFill>
                  <a:srgbClr val="FFFF00"/>
                </a:solidFill>
              </a:rPr>
              <a:t>forma simples e reprodutível</a:t>
            </a:r>
            <a:r>
              <a:rPr lang="pt-BR" dirty="0"/>
              <a:t>?</a:t>
            </a:r>
          </a:p>
          <a:p>
            <a:pPr lvl="1"/>
            <a:endParaRPr lang="pt-BR" dirty="0"/>
          </a:p>
        </p:txBody>
      </p:sp>
      <p:pic>
        <p:nvPicPr>
          <p:cNvPr id="5" name="Imagem 4" descr="Pedaço de fruta">
            <a:extLst>
              <a:ext uri="{FF2B5EF4-FFF2-40B4-BE49-F238E27FC236}">
                <a16:creationId xmlns:a16="http://schemas.microsoft.com/office/drawing/2014/main" id="{FFF1995E-04F7-7367-A788-D82317672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718112" y="3268296"/>
            <a:ext cx="4755776" cy="1465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174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02EF0-47AC-A464-8B8E-A775C431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normalmente é feito a avaliação do filme comestível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2B40B-2F3A-1B26-2683-E0F8AF922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Setup experimental</a:t>
            </a:r>
          </a:p>
          <a:p>
            <a:pPr lvl="1"/>
            <a:r>
              <a:rPr lang="pt-BR" dirty="0"/>
              <a:t>Grupo de </a:t>
            </a:r>
            <a:r>
              <a:rPr lang="pt-BR" dirty="0">
                <a:solidFill>
                  <a:srgbClr val="C00000"/>
                </a:solidFill>
              </a:rPr>
              <a:t>teste</a:t>
            </a:r>
            <a:r>
              <a:rPr lang="pt-BR" dirty="0"/>
              <a:t> e grupo de </a:t>
            </a:r>
            <a:r>
              <a:rPr lang="pt-BR" dirty="0">
                <a:solidFill>
                  <a:srgbClr val="FFFF00"/>
                </a:solidFill>
              </a:rPr>
              <a:t>controle</a:t>
            </a:r>
          </a:p>
          <a:p>
            <a:pPr lvl="1"/>
            <a:r>
              <a:rPr lang="pt-BR" dirty="0"/>
              <a:t>Estufa com </a:t>
            </a:r>
            <a:r>
              <a:rPr lang="pt-BR" dirty="0">
                <a:solidFill>
                  <a:srgbClr val="FFFF00"/>
                </a:solidFill>
              </a:rPr>
              <a:t>temperatura</a:t>
            </a:r>
            <a:r>
              <a:rPr lang="pt-BR" dirty="0"/>
              <a:t>, </a:t>
            </a:r>
            <a:r>
              <a:rPr lang="pt-BR" dirty="0">
                <a:solidFill>
                  <a:srgbClr val="00B050"/>
                </a:solidFill>
              </a:rPr>
              <a:t>umidade</a:t>
            </a:r>
            <a:r>
              <a:rPr lang="pt-BR" dirty="0"/>
              <a:t> e </a:t>
            </a:r>
            <a:r>
              <a:rPr lang="pt-BR" dirty="0">
                <a:solidFill>
                  <a:srgbClr val="C00000"/>
                </a:solidFill>
              </a:rPr>
              <a:t>gases</a:t>
            </a:r>
            <a:r>
              <a:rPr lang="pt-BR" dirty="0"/>
              <a:t> controlados</a:t>
            </a:r>
          </a:p>
          <a:p>
            <a:r>
              <a:rPr lang="pt-BR" dirty="0"/>
              <a:t>Medição</a:t>
            </a:r>
          </a:p>
          <a:p>
            <a:pPr lvl="1"/>
            <a:r>
              <a:rPr lang="pt-BR" dirty="0"/>
              <a:t>Avaliação </a:t>
            </a:r>
            <a:r>
              <a:rPr lang="pt-BR" dirty="0">
                <a:solidFill>
                  <a:srgbClr val="FFFF00"/>
                </a:solidFill>
              </a:rPr>
              <a:t>visual</a:t>
            </a:r>
            <a:r>
              <a:rPr lang="pt-BR" dirty="0"/>
              <a:t> periódica do pesquisador</a:t>
            </a:r>
          </a:p>
          <a:p>
            <a:pPr lvl="1"/>
            <a:r>
              <a:rPr lang="pt-BR" dirty="0"/>
              <a:t>Preenchimento de </a:t>
            </a:r>
            <a:r>
              <a:rPr lang="pt-BR" dirty="0">
                <a:solidFill>
                  <a:srgbClr val="FFFF00"/>
                </a:solidFill>
              </a:rPr>
              <a:t>formulário</a:t>
            </a:r>
            <a:r>
              <a:rPr lang="pt-BR" dirty="0"/>
              <a:t> qualitativo</a:t>
            </a:r>
            <a:endParaRPr lang="pt-BR" dirty="0">
              <a:solidFill>
                <a:srgbClr val="FFFF00"/>
              </a:solidFill>
            </a:endParaRP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Quais </a:t>
            </a:r>
            <a:r>
              <a:rPr lang="pt-BR" dirty="0">
                <a:solidFill>
                  <a:srgbClr val="C00000"/>
                </a:solidFill>
              </a:rPr>
              <a:t>problemas</a:t>
            </a:r>
            <a:r>
              <a:rPr lang="pt-BR" dirty="0"/>
              <a:t> podem afetar a confiabilidade dos resultados?</a:t>
            </a:r>
          </a:p>
        </p:txBody>
      </p:sp>
    </p:spTree>
    <p:extLst>
      <p:ext uri="{BB962C8B-B14F-4D97-AF65-F5344CB8AC3E}">
        <p14:creationId xmlns:p14="http://schemas.microsoft.com/office/powerpoint/2010/main" val="42508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AC8FA-EB6F-74E7-DE2A-821C408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Quais </a:t>
            </a:r>
            <a:r>
              <a:rPr lang="pt-BR" dirty="0">
                <a:solidFill>
                  <a:srgbClr val="C00000"/>
                </a:solidFill>
              </a:rPr>
              <a:t>problemas</a:t>
            </a:r>
            <a:r>
              <a:rPr lang="pt-BR" dirty="0"/>
              <a:t> podem afetar a confiabilidade dos resultados?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EF3F90-6B1F-0E79-824C-8DAEC8AA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Isso é confiável?</a:t>
            </a:r>
          </a:p>
          <a:p>
            <a:r>
              <a:rPr lang="pt-BR" dirty="0"/>
              <a:t>Duas pessoas dariam o mesmo resultado?</a:t>
            </a:r>
          </a:p>
          <a:p>
            <a:r>
              <a:rPr lang="pt-BR" dirty="0"/>
              <a:t>E se a iluminação mudar?</a:t>
            </a:r>
          </a:p>
          <a:p>
            <a:r>
              <a:rPr lang="pt-BR" dirty="0"/>
              <a:t>E se esquecer um dia?</a:t>
            </a:r>
          </a:p>
          <a:p>
            <a:r>
              <a:rPr lang="pt-BR" dirty="0"/>
              <a:t>Outros problemas?</a:t>
            </a:r>
          </a:p>
        </p:txBody>
      </p:sp>
    </p:spTree>
    <p:extLst>
      <p:ext uri="{BB962C8B-B14F-4D97-AF65-F5344CB8AC3E}">
        <p14:creationId xmlns:p14="http://schemas.microsoft.com/office/powerpoint/2010/main" val="314687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B66BD-B106-E0CB-A058-7CDAA61F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poderia </a:t>
            </a:r>
            <a:r>
              <a:rPr lang="pt-BR" dirty="0">
                <a:solidFill>
                  <a:srgbClr val="FFFF00"/>
                </a:solidFill>
              </a:rPr>
              <a:t>melhorar</a:t>
            </a:r>
            <a:r>
              <a:rPr lang="pt-BR" dirty="0"/>
              <a:t> a </a:t>
            </a:r>
            <a:r>
              <a:rPr lang="pt-BR" dirty="0">
                <a:solidFill>
                  <a:srgbClr val="C00000"/>
                </a:solidFill>
              </a:rPr>
              <a:t>confiabilidade</a:t>
            </a:r>
            <a:r>
              <a:rPr lang="pt-BR" dirty="0"/>
              <a:t> da medição?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774CF-72A0-6792-C2B5-8D296E84A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O que vocês sugerem?</a:t>
            </a:r>
          </a:p>
        </p:txBody>
      </p:sp>
    </p:spTree>
    <p:extLst>
      <p:ext uri="{BB962C8B-B14F-4D97-AF65-F5344CB8AC3E}">
        <p14:creationId xmlns:p14="http://schemas.microsoft.com/office/powerpoint/2010/main" val="4282285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FB2AA-519C-4EF3-9410-740B5F7A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5DD15D-6B74-4070-C94F-9776933B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Executar tarefas sem intervenção humana</a:t>
            </a:r>
          </a:p>
          <a:p>
            <a:r>
              <a:rPr lang="pt-BR" dirty="0"/>
              <a:t>Padronizar a coleta de dados</a:t>
            </a:r>
          </a:p>
          <a:p>
            <a:r>
              <a:rPr lang="pt-BR" dirty="0"/>
              <a:t>Aumentar a repetibilidade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175480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ECDE7-ED56-554D-D6F8-C554B25C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aplicação em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1FFD39-4FA7-A240-CD31-F0A0371E8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 </a:t>
            </a:r>
            <a:r>
              <a:rPr lang="pt-BR" dirty="0">
                <a:solidFill>
                  <a:srgbClr val="FFFF00"/>
                </a:solidFill>
              </a:rPr>
              <a:t>VM – </a:t>
            </a:r>
            <a:r>
              <a:rPr lang="pt-BR" dirty="0" err="1">
                <a:solidFill>
                  <a:srgbClr val="FFFF00"/>
                </a:solidFill>
              </a:rPr>
              <a:t>Raspberry</a:t>
            </a:r>
            <a:r>
              <a:rPr lang="pt-BR" dirty="0">
                <a:solidFill>
                  <a:srgbClr val="FFFF00"/>
                </a:solidFill>
              </a:rPr>
              <a:t> pi </a:t>
            </a:r>
            <a:r>
              <a:rPr lang="pt-BR" dirty="0"/>
              <a:t>para coleta de imagens</a:t>
            </a:r>
          </a:p>
          <a:p>
            <a:r>
              <a:rPr lang="pt-BR" dirty="0"/>
              <a:t>Vamos para a bancada!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052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CC4CA7-E940-F8B6-D61E-E17C8B7F8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Enviando comandos para o </a:t>
            </a:r>
            <a:r>
              <a:rPr lang="pt-BR" dirty="0" err="1">
                <a:solidFill>
                  <a:srgbClr val="FFFF00"/>
                </a:solidFill>
              </a:rPr>
              <a:t>Raspberry</a:t>
            </a:r>
            <a:r>
              <a:rPr lang="pt-BR" dirty="0">
                <a:solidFill>
                  <a:srgbClr val="FFFF00"/>
                </a:solidFill>
              </a:rPr>
              <a:t> 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8C0CD1-FE90-03F7-F2B1-8EAF5B9A4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Abram o </a:t>
            </a:r>
            <a:r>
              <a:rPr lang="pt-BR" dirty="0">
                <a:solidFill>
                  <a:srgbClr val="FFFF00"/>
                </a:solidFill>
              </a:rPr>
              <a:t>browser</a:t>
            </a:r>
            <a:r>
              <a:rPr lang="pt-BR" dirty="0"/>
              <a:t> e me acompanhem</a:t>
            </a:r>
          </a:p>
          <a:p>
            <a:r>
              <a:rPr lang="pt-BR" dirty="0"/>
              <a:t>Comandos:</a:t>
            </a:r>
          </a:p>
          <a:p>
            <a:pPr lvl="1"/>
            <a:r>
              <a:rPr lang="pt-BR" dirty="0"/>
              <a:t>10.1.96.14:5001/</a:t>
            </a:r>
            <a:r>
              <a:rPr lang="pt-BR" dirty="0" err="1"/>
              <a:t>generate_file</a:t>
            </a:r>
            <a:endParaRPr lang="pt-BR" dirty="0"/>
          </a:p>
          <a:p>
            <a:pPr lvl="1"/>
            <a:r>
              <a:rPr lang="pt-BR" dirty="0"/>
              <a:t>10.1.96.14:5001/</a:t>
            </a:r>
            <a:r>
              <a:rPr lang="pt-BR" dirty="0" err="1"/>
              <a:t>download_file</a:t>
            </a:r>
            <a:endParaRPr lang="pt-BR" dirty="0"/>
          </a:p>
          <a:p>
            <a:pPr lvl="1"/>
            <a:r>
              <a:rPr lang="pt-BR" dirty="0"/>
              <a:t>10.1.96.14:5001/</a:t>
            </a:r>
            <a:r>
              <a:rPr lang="pt-BR" dirty="0" err="1"/>
              <a:t>getdata</a:t>
            </a:r>
            <a:endParaRPr lang="pt-BR" dirty="0"/>
          </a:p>
          <a:p>
            <a:pPr lvl="1"/>
            <a:r>
              <a:rPr lang="pt-BR" dirty="0"/>
              <a:t>10.1.96.14:5001/</a:t>
            </a:r>
            <a:r>
              <a:rPr lang="pt-BR" dirty="0" err="1"/>
              <a:t>ligar_luz</a:t>
            </a:r>
            <a:endParaRPr lang="pt-BR" dirty="0"/>
          </a:p>
          <a:p>
            <a:pPr lvl="1"/>
            <a:r>
              <a:rPr lang="pt-BR" dirty="0"/>
              <a:t>10.1.96.14:5001/</a:t>
            </a:r>
            <a:r>
              <a:rPr lang="pt-BR" dirty="0" err="1"/>
              <a:t>adc_local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667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CAC99-E583-51E7-E88C-6DCD291C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Iniciando uma </a:t>
            </a:r>
            <a:r>
              <a:rPr lang="pt-BR" dirty="0">
                <a:solidFill>
                  <a:srgbClr val="FFFF00"/>
                </a:solidFill>
              </a:rPr>
              <a:t>medição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5741A0-6988-EEBE-C881-FE6B4F5B1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Observem durante a execução:</a:t>
            </a:r>
          </a:p>
          <a:p>
            <a:pPr lvl="1"/>
            <a:r>
              <a:rPr lang="pt-BR" dirty="0"/>
              <a:t>Como o sistema precisa de </a:t>
            </a:r>
            <a:r>
              <a:rPr lang="pt-BR" dirty="0">
                <a:solidFill>
                  <a:srgbClr val="FFFF00"/>
                </a:solidFill>
              </a:rPr>
              <a:t>pouca intervenção humana</a:t>
            </a:r>
          </a:p>
          <a:p>
            <a:pPr lvl="1"/>
            <a:r>
              <a:rPr lang="pt-BR" dirty="0"/>
              <a:t>As medidas são </a:t>
            </a:r>
            <a:r>
              <a:rPr lang="pt-BR" dirty="0">
                <a:solidFill>
                  <a:srgbClr val="FFFF00"/>
                </a:solidFill>
              </a:rPr>
              <a:t>periódicas</a:t>
            </a:r>
          </a:p>
          <a:p>
            <a:pPr lvl="1"/>
            <a:r>
              <a:rPr lang="pt-BR" dirty="0"/>
              <a:t>Melhores condições de </a:t>
            </a:r>
            <a:r>
              <a:rPr lang="pt-BR" dirty="0">
                <a:solidFill>
                  <a:srgbClr val="FFFF00"/>
                </a:solidFill>
              </a:rPr>
              <a:t>padronização</a:t>
            </a:r>
          </a:p>
          <a:p>
            <a:pPr lvl="1"/>
            <a:r>
              <a:rPr lang="pt-BR" dirty="0"/>
              <a:t>Maior </a:t>
            </a:r>
            <a:r>
              <a:rPr lang="pt-BR" dirty="0">
                <a:solidFill>
                  <a:srgbClr val="FFFF00"/>
                </a:solidFill>
              </a:rPr>
              <a:t>repetibilidade</a:t>
            </a:r>
            <a:r>
              <a:rPr lang="pt-BR" dirty="0"/>
              <a:t>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952064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7D9ECA-EE03-818C-3204-64CB524C9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61" y="1967265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aquisição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imagens (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exemplo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9" name="Espaço Reservado para Conteúdo 8" descr="Diagrama&#10;&#10;O conteúdo gerado por IA pode estar incorreto.">
            <a:extLst>
              <a:ext uri="{FF2B5EF4-FFF2-40B4-BE49-F238E27FC236}">
                <a16:creationId xmlns:a16="http://schemas.microsoft.com/office/drawing/2014/main" id="{D2F7E723-E4DA-9505-ACF8-ADE641A8F4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0" y="298515"/>
            <a:ext cx="8518326" cy="626096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9256760-5C98-7564-D40C-7DF9EEA2F202}"/>
              </a:ext>
            </a:extLst>
          </p:cNvPr>
          <p:cNvSpPr txBox="1"/>
          <p:nvPr/>
        </p:nvSpPr>
        <p:spPr>
          <a:xfrm>
            <a:off x="314633" y="507389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1" dirty="0">
                <a:effectLst/>
                <a:latin typeface="Verdana" panose="020B0604030504040204" pitchFamily="34" charset="0"/>
              </a:rPr>
              <a:t>Desenvolvimento De Um Sistema Automatizado De Captura De Imagens E Dados Ambientais Para Experimentos Científicos</a:t>
            </a:r>
          </a:p>
          <a:p>
            <a:pPr marL="285750" indent="-285750">
              <a:buFontTx/>
              <a:buChar char="-"/>
            </a:pPr>
            <a:r>
              <a:rPr lang="pt-BR" dirty="0"/>
              <a:t>Alceno Oliveira Dos Santos Junior</a:t>
            </a:r>
          </a:p>
          <a:p>
            <a:pPr marL="285750" indent="-285750">
              <a:buFontTx/>
              <a:buChar char="-"/>
            </a:pPr>
            <a:r>
              <a:rPr lang="pt-BR" dirty="0" err="1"/>
              <a:t>Nyana</a:t>
            </a:r>
            <a:r>
              <a:rPr lang="pt-BR" dirty="0"/>
              <a:t> Godoi </a:t>
            </a:r>
            <a:r>
              <a:rPr lang="pt-BR" dirty="0" err="1"/>
              <a:t>Carpenedo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50617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EA86C-E78F-E51A-2132-1682B95E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Robustez</a:t>
            </a:r>
            <a:r>
              <a:rPr lang="pt-BR" dirty="0"/>
              <a:t> do sistema (introdução à VM como extensão)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F8350E-7FD9-C87D-B9DE-B630518AA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VM – </a:t>
            </a:r>
            <a:r>
              <a:rPr lang="pt-BR" i="1" dirty="0"/>
              <a:t>Virtual Machine</a:t>
            </a:r>
            <a:r>
              <a:rPr lang="pt-BR" dirty="0"/>
              <a:t>:</a:t>
            </a:r>
            <a:r>
              <a:rPr lang="pt-BR" i="1" dirty="0"/>
              <a:t> </a:t>
            </a:r>
            <a:r>
              <a:rPr lang="pt-BR" dirty="0"/>
              <a:t>Centro de controle do sistema</a:t>
            </a:r>
          </a:p>
          <a:p>
            <a:r>
              <a:rPr lang="pt-BR" dirty="0"/>
              <a:t>Execução contínua e automática</a:t>
            </a:r>
          </a:p>
          <a:p>
            <a:r>
              <a:rPr lang="pt-BR" dirty="0"/>
              <a:t>Proteção contra falhas (energia, hardware)</a:t>
            </a:r>
          </a:p>
          <a:p>
            <a:r>
              <a:rPr lang="pt-BR" dirty="0"/>
              <a:t>Armazenamento confiável dos dados</a:t>
            </a:r>
          </a:p>
        </p:txBody>
      </p:sp>
    </p:spTree>
    <p:extLst>
      <p:ext uri="{BB962C8B-B14F-4D97-AF65-F5344CB8AC3E}">
        <p14:creationId xmlns:p14="http://schemas.microsoft.com/office/powerpoint/2010/main" val="1983539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9ADCD2-64F8-0303-0B28-59965E1A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</a:t>
            </a: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iremos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implementar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até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terceira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aula</a:t>
            </a:r>
          </a:p>
        </p:txBody>
      </p:sp>
      <p:pic>
        <p:nvPicPr>
          <p:cNvPr id="9" name="Espaço Reservado para Conteúdo 8" descr="Diagrama&#10;&#10;O conteúdo gerado por IA pode estar incorreto.">
            <a:extLst>
              <a:ext uri="{FF2B5EF4-FFF2-40B4-BE49-F238E27FC236}">
                <a16:creationId xmlns:a16="http://schemas.microsoft.com/office/drawing/2014/main" id="{307400A7-8A67-0F95-6873-EB7B0BB53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800315"/>
            <a:ext cx="6780700" cy="52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58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10FFD-4D62-48FE-F1CA-A7F3F885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O que vocês precisam para acompanhar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83E0BE-3B9E-E010-6C9C-A4FACB62E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 embarcado (visão geral) </a:t>
            </a:r>
          </a:p>
          <a:p>
            <a:r>
              <a:rPr lang="pt-BR" dirty="0"/>
              <a:t>Linux (uso básico) </a:t>
            </a:r>
          </a:p>
          <a:p>
            <a:r>
              <a:rPr lang="pt-BR" dirty="0"/>
              <a:t>Acesso remoto (SSH) </a:t>
            </a:r>
          </a:p>
          <a:p>
            <a:r>
              <a:rPr lang="pt-BR" dirty="0"/>
              <a:t>Terminal (</a:t>
            </a:r>
            <a:r>
              <a:rPr lang="pt-BR" dirty="0" err="1"/>
              <a:t>Bash</a:t>
            </a:r>
            <a:r>
              <a:rPr lang="pt-BR" dirty="0"/>
              <a:t>)</a:t>
            </a:r>
          </a:p>
          <a:p>
            <a:r>
              <a:rPr lang="pt-BR" dirty="0"/>
              <a:t>Automação a nível de sistema (</a:t>
            </a:r>
            <a:r>
              <a:rPr lang="pt-BR" dirty="0" err="1"/>
              <a:t>systemd</a:t>
            </a:r>
            <a:r>
              <a:rPr lang="pt-BR" dirty="0"/>
              <a:t>) </a:t>
            </a:r>
          </a:p>
          <a:p>
            <a:r>
              <a:rPr lang="pt-BR" dirty="0"/>
              <a:t>Script em Python</a:t>
            </a:r>
          </a:p>
        </p:txBody>
      </p:sp>
    </p:spTree>
    <p:extLst>
      <p:ext uri="{BB962C8B-B14F-4D97-AF65-F5344CB8AC3E}">
        <p14:creationId xmlns:p14="http://schemas.microsoft.com/office/powerpoint/2010/main" val="3833654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 descr="Raspberry Pi Camera Circuit Diagram">
            <a:extLst>
              <a:ext uri="{FF2B5EF4-FFF2-40B4-BE49-F238E27FC236}">
                <a16:creationId xmlns:a16="http://schemas.microsoft.com/office/drawing/2014/main" id="{5A5025CC-2BFE-5435-A0A1-339E24CC1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52A4EF-C3BA-8A27-9971-B1D404EF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BR" sz="4000"/>
              <a:t>Sistema embarcado (visão geral)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82F323-799B-2F43-04AD-DD8B4CB5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pt-BR" sz="2000" dirty="0"/>
              <a:t>Sistema computacional dedicado a uma </a:t>
            </a:r>
            <a:r>
              <a:rPr lang="pt-BR" sz="2000" dirty="0">
                <a:solidFill>
                  <a:srgbClr val="FFFF00"/>
                </a:solidFill>
              </a:rPr>
              <a:t>tarefa específica</a:t>
            </a:r>
          </a:p>
          <a:p>
            <a:r>
              <a:rPr lang="pt-BR" sz="2000" dirty="0"/>
              <a:t>Interage com o </a:t>
            </a:r>
            <a:r>
              <a:rPr lang="pt-BR" sz="2000" dirty="0">
                <a:solidFill>
                  <a:srgbClr val="FFFF00"/>
                </a:solidFill>
              </a:rPr>
              <a:t>mundo físico</a:t>
            </a:r>
            <a:r>
              <a:rPr lang="pt-BR" sz="2000" dirty="0"/>
              <a:t> (sensores/atuadores)</a:t>
            </a:r>
          </a:p>
          <a:p>
            <a:r>
              <a:rPr lang="pt-BR" sz="2000" dirty="0"/>
              <a:t>Executa software de forma </a:t>
            </a:r>
            <a:r>
              <a:rPr lang="pt-BR" sz="2000" dirty="0">
                <a:solidFill>
                  <a:srgbClr val="FFFF00"/>
                </a:solidFill>
              </a:rPr>
              <a:t>automática</a:t>
            </a:r>
          </a:p>
          <a:p>
            <a:r>
              <a:rPr lang="pt-BR" sz="2000" dirty="0">
                <a:solidFill>
                  <a:srgbClr val="FFFF00"/>
                </a:solidFill>
              </a:rPr>
              <a:t>Exemplo</a:t>
            </a:r>
            <a:r>
              <a:rPr lang="pt-BR" sz="2000" dirty="0"/>
              <a:t>: </a:t>
            </a:r>
            <a:r>
              <a:rPr lang="pt-BR" sz="2000" dirty="0" err="1"/>
              <a:t>Raspberry</a:t>
            </a:r>
            <a:r>
              <a:rPr lang="pt-BR" sz="2000" dirty="0"/>
              <a:t> / Orange Pi controlando a aquisição de imagens</a:t>
            </a:r>
          </a:p>
        </p:txBody>
      </p:sp>
    </p:spTree>
    <p:extLst>
      <p:ext uri="{BB962C8B-B14F-4D97-AF65-F5344CB8AC3E}">
        <p14:creationId xmlns:p14="http://schemas.microsoft.com/office/powerpoint/2010/main" val="3775547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EEE6B-9A75-B5FA-80D9-67EF70796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Linux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921542-294F-DC49-44F1-0204CE704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Núcleo</a:t>
            </a:r>
            <a:r>
              <a:rPr lang="pt-BR" dirty="0"/>
              <a:t> do sistema operacional usado no </a:t>
            </a:r>
            <a:r>
              <a:rPr lang="pt-BR" dirty="0" err="1"/>
              <a:t>Raspberry</a:t>
            </a:r>
            <a:r>
              <a:rPr lang="pt-BR"/>
              <a:t>/Orange </a:t>
            </a:r>
            <a:r>
              <a:rPr lang="pt-BR" dirty="0"/>
              <a:t>Pi (kernel)</a:t>
            </a:r>
          </a:p>
          <a:p>
            <a:r>
              <a:rPr lang="pt-BR" dirty="0"/>
              <a:t>Permite acesso remoto (</a:t>
            </a:r>
            <a:r>
              <a:rPr lang="pt-BR" dirty="0">
                <a:solidFill>
                  <a:srgbClr val="FFFF00"/>
                </a:solidFill>
              </a:rPr>
              <a:t>SSH</a:t>
            </a:r>
            <a:r>
              <a:rPr lang="pt-BR" dirty="0"/>
              <a:t>)</a:t>
            </a:r>
          </a:p>
          <a:p>
            <a:r>
              <a:rPr lang="pt-BR" dirty="0"/>
              <a:t>Executa </a:t>
            </a:r>
            <a:r>
              <a:rPr lang="pt-BR" dirty="0">
                <a:solidFill>
                  <a:srgbClr val="FFFF00"/>
                </a:solidFill>
              </a:rPr>
              <a:t>scripts</a:t>
            </a:r>
            <a:r>
              <a:rPr lang="pt-BR" dirty="0"/>
              <a:t> e comandos no terminal</a:t>
            </a:r>
          </a:p>
          <a:p>
            <a:r>
              <a:rPr lang="pt-BR" dirty="0"/>
              <a:t>Base para </a:t>
            </a:r>
            <a:r>
              <a:rPr lang="pt-BR" dirty="0">
                <a:solidFill>
                  <a:srgbClr val="FFFF00"/>
                </a:solidFill>
              </a:rPr>
              <a:t>automação</a:t>
            </a:r>
            <a:r>
              <a:rPr lang="pt-BR" dirty="0"/>
              <a:t> do sistema</a:t>
            </a:r>
          </a:p>
        </p:txBody>
      </p:sp>
    </p:spTree>
    <p:extLst>
      <p:ext uri="{BB962C8B-B14F-4D97-AF65-F5344CB8AC3E}">
        <p14:creationId xmlns:p14="http://schemas.microsoft.com/office/powerpoint/2010/main" val="4167250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ACAB5-1712-2C38-2F6D-7EE3342F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SSH</a:t>
            </a:r>
            <a:r>
              <a:rPr lang="pt-BR" dirty="0"/>
              <a:t> - </a:t>
            </a:r>
            <a:r>
              <a:rPr lang="pt-BR" i="1" dirty="0" err="1"/>
              <a:t>Secure</a:t>
            </a:r>
            <a:r>
              <a:rPr lang="pt-BR" i="1" dirty="0"/>
              <a:t> Shell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37C1E7-B8D0-0759-C22A-EF8517C95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Acesso </a:t>
            </a:r>
            <a:r>
              <a:rPr lang="pt-BR" dirty="0">
                <a:solidFill>
                  <a:srgbClr val="FFFF00"/>
                </a:solidFill>
              </a:rPr>
              <a:t>remoto</a:t>
            </a:r>
            <a:r>
              <a:rPr lang="pt-BR" dirty="0"/>
              <a:t> ao Orange Pi</a:t>
            </a:r>
          </a:p>
          <a:p>
            <a:r>
              <a:rPr lang="pt-BR" dirty="0"/>
              <a:t>Permite controlar o sistema à </a:t>
            </a:r>
            <a:r>
              <a:rPr lang="pt-BR" dirty="0">
                <a:solidFill>
                  <a:srgbClr val="FFFF00"/>
                </a:solidFill>
              </a:rPr>
              <a:t>distância</a:t>
            </a:r>
          </a:p>
          <a:p>
            <a:r>
              <a:rPr lang="pt-BR" dirty="0">
                <a:solidFill>
                  <a:srgbClr val="FFFF00"/>
                </a:solidFill>
              </a:rPr>
              <a:t>Executa comandos </a:t>
            </a:r>
            <a:r>
              <a:rPr lang="pt-BR" dirty="0"/>
              <a:t>como se estivesse no dispositivo</a:t>
            </a:r>
          </a:p>
          <a:p>
            <a:r>
              <a:rPr lang="pt-BR" dirty="0"/>
              <a:t>Acessado via </a:t>
            </a:r>
            <a:r>
              <a:rPr lang="pt-BR" dirty="0">
                <a:solidFill>
                  <a:srgbClr val="FFFF00"/>
                </a:solidFill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4029695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B62CC-0599-12E3-2501-42C9AE3C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Terminal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3ABA93-B583-ACB4-B933-718B2A478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FFFF00"/>
                </a:solidFill>
              </a:rPr>
              <a:t>Interface</a:t>
            </a:r>
            <a:r>
              <a:rPr lang="pt-BR" dirty="0"/>
              <a:t> para executar comandos</a:t>
            </a:r>
          </a:p>
          <a:p>
            <a:r>
              <a:rPr lang="pt-BR" dirty="0"/>
              <a:t>Permite </a:t>
            </a:r>
            <a:r>
              <a:rPr lang="pt-BR" dirty="0">
                <a:solidFill>
                  <a:srgbClr val="FFFF00"/>
                </a:solidFill>
              </a:rPr>
              <a:t>navegar</a:t>
            </a:r>
            <a:r>
              <a:rPr lang="pt-BR" dirty="0"/>
              <a:t> e </a:t>
            </a:r>
            <a:r>
              <a:rPr lang="pt-BR" dirty="0">
                <a:solidFill>
                  <a:srgbClr val="FFFF00"/>
                </a:solidFill>
              </a:rPr>
              <a:t>manipular</a:t>
            </a:r>
            <a:r>
              <a:rPr lang="pt-BR" dirty="0"/>
              <a:t> arquivos</a:t>
            </a:r>
          </a:p>
          <a:p>
            <a:r>
              <a:rPr lang="pt-BR" dirty="0"/>
              <a:t>Executa </a:t>
            </a:r>
            <a:r>
              <a:rPr lang="pt-BR" dirty="0">
                <a:solidFill>
                  <a:srgbClr val="FFFF00"/>
                </a:solidFill>
              </a:rPr>
              <a:t>scripts</a:t>
            </a:r>
            <a:r>
              <a:rPr lang="pt-BR" dirty="0"/>
              <a:t> e programas</a:t>
            </a:r>
          </a:p>
          <a:p>
            <a:r>
              <a:rPr lang="pt-BR" dirty="0"/>
              <a:t>Principal forma de interação com o sistema</a:t>
            </a:r>
          </a:p>
          <a:p>
            <a:r>
              <a:rPr lang="pt-BR" dirty="0"/>
              <a:t>Pode usar o interpretador  </a:t>
            </a:r>
            <a:r>
              <a:rPr lang="pt-BR" dirty="0" err="1"/>
              <a:t>Bash</a:t>
            </a:r>
            <a:r>
              <a:rPr lang="pt-BR" dirty="0"/>
              <a:t> (</a:t>
            </a:r>
            <a:r>
              <a:rPr lang="pt-BR" i="1" dirty="0"/>
              <a:t>Bourne Again </a:t>
            </a:r>
            <a:r>
              <a:rPr lang="pt-BR" i="1" dirty="0" err="1"/>
              <a:t>SHell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7040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061C0-D35B-CB65-CC6D-446F2274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rgbClr val="FFFF00"/>
                </a:solidFill>
              </a:rPr>
              <a:t>systemd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5D288-A7F2-222B-F481-4858AC93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Sistema de </a:t>
            </a:r>
            <a:r>
              <a:rPr lang="pt-BR" dirty="0">
                <a:solidFill>
                  <a:srgbClr val="FFFF00"/>
                </a:solidFill>
              </a:rPr>
              <a:t>gerenciamento</a:t>
            </a:r>
            <a:r>
              <a:rPr lang="pt-BR" dirty="0"/>
              <a:t> de serviços</a:t>
            </a:r>
          </a:p>
          <a:p>
            <a:r>
              <a:rPr lang="pt-BR" dirty="0"/>
              <a:t>Permite executar programas </a:t>
            </a:r>
            <a:r>
              <a:rPr lang="pt-BR" dirty="0">
                <a:solidFill>
                  <a:srgbClr val="FFFF00"/>
                </a:solidFill>
              </a:rPr>
              <a:t>automaticamente</a:t>
            </a:r>
          </a:p>
          <a:p>
            <a:r>
              <a:rPr lang="pt-BR" dirty="0"/>
              <a:t>Pode </a:t>
            </a:r>
            <a:r>
              <a:rPr lang="pt-BR" dirty="0">
                <a:solidFill>
                  <a:srgbClr val="FFFF00"/>
                </a:solidFill>
              </a:rPr>
              <a:t>iniciar tarefas </a:t>
            </a:r>
            <a:r>
              <a:rPr lang="pt-BR" dirty="0"/>
              <a:t>ao ligar o sistema</a:t>
            </a:r>
          </a:p>
          <a:p>
            <a:r>
              <a:rPr lang="pt-BR" dirty="0"/>
              <a:t>Usado para </a:t>
            </a:r>
            <a:r>
              <a:rPr lang="pt-BR" dirty="0">
                <a:solidFill>
                  <a:srgbClr val="FFFF00"/>
                </a:solidFill>
              </a:rPr>
              <a:t>automatizar</a:t>
            </a:r>
            <a:r>
              <a:rPr lang="pt-BR" dirty="0"/>
              <a:t> a coleta de dados</a:t>
            </a:r>
          </a:p>
        </p:txBody>
      </p:sp>
    </p:spTree>
    <p:extLst>
      <p:ext uri="{BB962C8B-B14F-4D97-AF65-F5344CB8AC3E}">
        <p14:creationId xmlns:p14="http://schemas.microsoft.com/office/powerpoint/2010/main" val="3455760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21A8E-F290-7341-13CE-6320C7A3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406E8D-E55C-1C2A-71C2-58BE1EC6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SSH acessa → terminal → scripts → </a:t>
            </a:r>
            <a:r>
              <a:rPr lang="pt-BR" dirty="0" err="1"/>
              <a:t>systemd</a:t>
            </a:r>
            <a:r>
              <a:rPr lang="pt-BR" dirty="0"/>
              <a:t> automatiza</a:t>
            </a:r>
          </a:p>
        </p:txBody>
      </p:sp>
    </p:spTree>
    <p:extLst>
      <p:ext uri="{BB962C8B-B14F-4D97-AF65-F5344CB8AC3E}">
        <p14:creationId xmlns:p14="http://schemas.microsoft.com/office/powerpoint/2010/main" val="9658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941B7-8D8F-3C6D-E0C3-C4D593ED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básicos de terminal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A08842-6503-5C6D-2AA4-C416197B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Prática</a:t>
            </a:r>
          </a:p>
          <a:p>
            <a:pPr lvl="1"/>
            <a:r>
              <a:rPr lang="pt-BR" dirty="0"/>
              <a:t>Logar no Orange Pi</a:t>
            </a:r>
          </a:p>
          <a:p>
            <a:pPr lvl="1"/>
            <a:r>
              <a:rPr lang="pt-BR" dirty="0"/>
              <a:t>Seguir os comandos indicados pelo docente</a:t>
            </a:r>
          </a:p>
        </p:txBody>
      </p:sp>
    </p:spTree>
    <p:extLst>
      <p:ext uri="{BB962C8B-B14F-4D97-AF65-F5344CB8AC3E}">
        <p14:creationId xmlns:p14="http://schemas.microsoft.com/office/powerpoint/2010/main" val="873981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31548-7C67-8057-3DD8-3BDC3567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4886ED-BC5E-02E9-3D16-D9DABD09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Scripts básicos de </a:t>
            </a:r>
            <a:r>
              <a:rPr lang="pt-BR" dirty="0" err="1"/>
              <a:t>python</a:t>
            </a:r>
            <a:endParaRPr lang="pt-BR" dirty="0"/>
          </a:p>
          <a:p>
            <a:r>
              <a:rPr lang="pt-BR"/>
              <a:t>Automação simples </a:t>
            </a:r>
            <a:r>
              <a:rPr lang="pt-BR" dirty="0"/>
              <a:t>com o </a:t>
            </a:r>
            <a:r>
              <a:rPr lang="pt-BR" dirty="0" err="1"/>
              <a:t>systemd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36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609</Words>
  <Application>Microsoft Office PowerPoint</Application>
  <PresentationFormat>Widescreen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Verdana</vt:lpstr>
      <vt:lpstr>Office Theme</vt:lpstr>
      <vt:lpstr>Metrologia por imagens: Automação de Coleta de Imagens em Sistemas Experimentais (01/03)</vt:lpstr>
      <vt:lpstr>Agenda Aula – dia 1 </vt:lpstr>
      <vt:lpstr>Problema experimental e motivação</vt:lpstr>
      <vt:lpstr>Como normalmente é feito a avaliação do filme comestível</vt:lpstr>
      <vt:lpstr>Quais problemas podem afetar a confiabilidade dos resultados? </vt:lpstr>
      <vt:lpstr>O que poderia melhorar a confiabilidade da medição?</vt:lpstr>
      <vt:lpstr>Automação</vt:lpstr>
      <vt:lpstr>Exemplo de aplicação em funcionamento</vt:lpstr>
      <vt:lpstr>Enviando comandos para o Raspberry Pi</vt:lpstr>
      <vt:lpstr>Iniciando uma medição</vt:lpstr>
      <vt:lpstr>Pipeline de aquisição de imagens (exemplo)</vt:lpstr>
      <vt:lpstr>Robustez do sistema (introdução à VM como extensão)</vt:lpstr>
      <vt:lpstr>O que iremos implementar até a terceira aula</vt:lpstr>
      <vt:lpstr>O que vocês precisam para acompanhar</vt:lpstr>
      <vt:lpstr>Sistema embarcado (visão geral) </vt:lpstr>
      <vt:lpstr>Linux</vt:lpstr>
      <vt:lpstr>SSH - Secure Shell</vt:lpstr>
      <vt:lpstr>Terminal</vt:lpstr>
      <vt:lpstr>systemd</vt:lpstr>
      <vt:lpstr>Resumo</vt:lpstr>
      <vt:lpstr>Comandos básicos de terminal</vt:lpstr>
      <vt:lpstr>Próxima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Pfrimer</dc:creator>
  <cp:lastModifiedBy>Felipe Pfrimer</cp:lastModifiedBy>
  <cp:revision>1</cp:revision>
  <dcterms:created xsi:type="dcterms:W3CDTF">2026-04-05T13:48:25Z</dcterms:created>
  <dcterms:modified xsi:type="dcterms:W3CDTF">2026-05-22T22:19:49Z</dcterms:modified>
</cp:coreProperties>
</file>